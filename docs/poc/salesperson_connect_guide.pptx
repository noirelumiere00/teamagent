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  <p:sldId id="266" r:id="rId17"/>
    <p:sldId id="267" r:id="rId18"/>
    <p:sldId id="268" r:id="rId1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011680"/>
            <a:ext cx="5029200" cy="5029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480560"/>
            <a:ext cx="3840480" cy="38404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371600"/>
            <a:ext cx="1371600" cy="13716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170078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3464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AIエージェントに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自分のGoogleをつなぐ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960120" y="4709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〜 3分で完了・カンタン3ステップ 〜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60120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9C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営業メンバー向け かんたんガイド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これは何？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68680" y="1417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4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AIが提案づくりを手伝う</a:t>
            </a:r>
            <a:pPr indent="0" marL="0">
              <a:buNone/>
            </a:pPr>
            <a:r>
              <a:rPr lang="en-US" sz="2200" dirty="0">
                <a:solidFill>
                  <a:srgbClr val="1234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ために、あなたのGoogleを </a:t>
            </a:r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“見るだけ”</a:t>
            </a:r>
            <a:pPr indent="0" marL="0">
              <a:buNone/>
            </a:pPr>
            <a:r>
              <a:rPr lang="en-US" sz="2200" dirty="0">
                <a:solidFill>
                  <a:srgbClr val="1234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で活用します。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" y="2651760"/>
            <a:ext cx="3291840" cy="3108960"/>
          </a:xfrm>
          <a:prstGeom prst="roundRect">
            <a:avLst>
              <a:gd name="adj" fmla="val 4118"/>
            </a:avLst>
          </a:prstGeom>
          <a:solidFill>
            <a:srgbClr val="EAF7F5"/>
          </a:solidFill>
          <a:ln w="12700">
            <a:solidFill>
              <a:srgbClr val="CDE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2971800"/>
            <a:ext cx="1005840" cy="10058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3140" y="32232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4160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予定（カレンダー）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51560" y="4754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76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いつ・誰と商談したか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480560" y="2651760"/>
            <a:ext cx="3291840" cy="3108960"/>
          </a:xfrm>
          <a:prstGeom prst="roundRect">
            <a:avLst>
              <a:gd name="adj" fmla="val 4118"/>
            </a:avLst>
          </a:prstGeom>
          <a:solidFill>
            <a:srgbClr val="EAF7F5"/>
          </a:solidFill>
          <a:ln w="12700">
            <a:solidFill>
              <a:srgbClr val="CDE9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23560" y="2971800"/>
            <a:ext cx="1005840" cy="10058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32232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4160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メール（Gmail）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63440" y="4754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76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クライアントとのやりとり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092440" y="2651760"/>
            <a:ext cx="3291840" cy="3108960"/>
          </a:xfrm>
          <a:prstGeom prst="roundRect">
            <a:avLst>
              <a:gd name="adj" fmla="val 4118"/>
            </a:avLst>
          </a:prstGeom>
          <a:solidFill>
            <a:srgbClr val="EAF7F5"/>
          </a:solidFill>
          <a:ln w="12700">
            <a:solidFill>
              <a:srgbClr val="CDE9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235440" y="2971800"/>
            <a:ext cx="1005840" cy="10058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32232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4160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資料（ドライブ）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275320" y="4754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76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過去提案・事例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68680" y="5989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6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 あなたの代わりにメールを送ったり、ファイルを変更したりは しません。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安心してください。3つの約束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68680" y="1828800"/>
            <a:ext cx="3291840" cy="3931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DE9E4"/>
            </a:solidFill>
            <a:prstDash val="solid"/>
          </a:ln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65960" y="2286000"/>
            <a:ext cx="1097280" cy="109728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25603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3611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4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見るだけ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7280" y="42519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76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データは変更しません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76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（参照のみ／readonly）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80560" y="1828800"/>
            <a:ext cx="3291840" cy="3931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DE9E4"/>
            </a:solidFill>
            <a:prstDash val="solid"/>
          </a:ln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2286000"/>
            <a:ext cx="1097280" cy="109728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603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3611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4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あなただけ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709160" y="42519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76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他の人には見えません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76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（あなた専用の連携）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92440" y="1828800"/>
            <a:ext cx="3291840" cy="3931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DE9E4"/>
            </a:solidFill>
            <a:prstDash val="solid"/>
          </a:ln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89720" y="2286000"/>
            <a:ext cx="1097280" cy="109728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56032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3611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4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いつでも解除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8321040" y="42519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76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Googleの設定から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76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ワンタップでOFF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76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つなぎ方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079992" y="548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1 / 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743200" cy="27432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4160520" y="2148840"/>
            <a:ext cx="1188720" cy="11887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7700" y="244602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0" y="35661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4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届いたリンクを開く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160520" y="4526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76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Slack や メールで届く「連携リンク」をタップするだけ。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394960" y="612648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Shape 8"/>
          <p:cNvSpPr/>
          <p:nvPr/>
        </p:nvSpPr>
        <p:spPr>
          <a:xfrm>
            <a:off x="5897880" y="6126480"/>
            <a:ext cx="292608" cy="292608"/>
          </a:xfrm>
          <a:prstGeom prst="ellipse">
            <a:avLst/>
          </a:prstGeom>
          <a:solidFill>
            <a:srgbClr val="CDE9E4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0" y="6126480"/>
            <a:ext cx="292608" cy="292608"/>
          </a:xfrm>
          <a:prstGeom prst="ellipse">
            <a:avLst/>
          </a:prstGeom>
          <a:solidFill>
            <a:srgbClr val="CDE9E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76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つなぎ方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079992" y="548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2 / 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743200" cy="27432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4160520" y="2148840"/>
            <a:ext cx="1188720" cy="11887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7700" y="244602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0" y="35661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4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自分のGoogleでログイン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160520" y="4526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76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いつも使っている自分のアカウントを選んでログイン。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394960" y="612648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Shape 8"/>
          <p:cNvSpPr/>
          <p:nvPr/>
        </p:nvSpPr>
        <p:spPr>
          <a:xfrm>
            <a:off x="5897880" y="612648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0" y="6126480"/>
            <a:ext cx="292608" cy="292608"/>
          </a:xfrm>
          <a:prstGeom prst="ellipse">
            <a:avLst/>
          </a:prstGeom>
          <a:solidFill>
            <a:srgbClr val="CDE9E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76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つなぎ方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079992" y="548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3 / 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743200" cy="27432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4160520" y="2148840"/>
            <a:ext cx="1188720" cy="11887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7700" y="244602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0" y="35661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4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「許可」をタップ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160520" y="4526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76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表示された項目（すべて“見るだけ”）を確認して「許可」。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394960" y="612648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Shape 8"/>
          <p:cNvSpPr/>
          <p:nvPr/>
        </p:nvSpPr>
        <p:spPr>
          <a:xfrm>
            <a:off x="5897880" y="612648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0" y="612648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868680"/>
            <a:ext cx="1463040" cy="14630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4" y="1197864"/>
            <a:ext cx="804672" cy="804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51460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完了！ これで準備OK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42900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あとは AI に話しかけるだけ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108960" y="4297680"/>
            <a:ext cx="59436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45720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23360" y="42976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4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「森ビルの次の提案つくって」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914400" y="557784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FD6D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あなたの予定・メール・資料を踏まえて、AIが提案を組み立てます。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よくある質問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68680" y="1600200"/>
            <a:ext cx="10469880" cy="1234440"/>
          </a:xfrm>
          <a:prstGeom prst="roundRect">
            <a:avLst>
              <a:gd name="adj" fmla="val 8889"/>
            </a:avLst>
          </a:prstGeom>
          <a:solidFill>
            <a:srgbClr val="EAF7F5"/>
          </a:solidFill>
          <a:ln w="12700">
            <a:solidFill>
              <a:srgbClr val="CDE9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892808"/>
            <a:ext cx="658368" cy="65836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1008" y="2050816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57400" y="174650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Q. </a:t>
            </a:r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勝手にメールを送られたりしない？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057400" y="22402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A. </a:t>
            </a:r>
            <a:pPr indent="0" marL="0">
              <a:buNone/>
            </a:pPr>
            <a:r>
              <a:rPr lang="en-US" sz="1600" dirty="0">
                <a:solidFill>
                  <a:srgbClr val="5B76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いいえ。見るだけで、送信・変更・削除は一切しません。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3017520"/>
            <a:ext cx="10469880" cy="1234440"/>
          </a:xfrm>
          <a:prstGeom prst="roundRect">
            <a:avLst>
              <a:gd name="adj" fmla="val 8889"/>
            </a:avLst>
          </a:prstGeom>
          <a:solidFill>
            <a:srgbClr val="EAF7F5"/>
          </a:solidFill>
          <a:ln w="12700">
            <a:solidFill>
              <a:srgbClr val="CDE9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3310128"/>
            <a:ext cx="658368" cy="65836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008" y="3468136"/>
            <a:ext cx="342351" cy="3423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57400" y="316382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Q. </a:t>
            </a:r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他の人に自分のデータを見られる？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2057400" y="36576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A. </a:t>
            </a:r>
            <a:pPr indent="0" marL="0">
              <a:buNone/>
            </a:pPr>
            <a:r>
              <a:rPr lang="en-US" sz="1600" dirty="0">
                <a:solidFill>
                  <a:srgbClr val="5B76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いいえ。あなた専用の連携です。他の人のデータも見えません。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68680" y="4434840"/>
            <a:ext cx="10469880" cy="1234440"/>
          </a:xfrm>
          <a:prstGeom prst="roundRect">
            <a:avLst>
              <a:gd name="adj" fmla="val 8889"/>
            </a:avLst>
          </a:prstGeom>
          <a:solidFill>
            <a:srgbClr val="EAF7F5"/>
          </a:solidFill>
          <a:ln w="12700">
            <a:solidFill>
              <a:srgbClr val="CDE9E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43000" y="4727448"/>
            <a:ext cx="658368" cy="65836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14300" dist="38100" dir="8100000">
              <a:srgbClr val="0E2A30">
                <a:alpha val="1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008" y="4885456"/>
            <a:ext cx="342351" cy="3423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57400" y="458114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Q. </a:t>
            </a:r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やめたくなったら？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2057400" y="507492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A. </a:t>
            </a:r>
            <a:pPr indent="0" marL="0">
              <a:buNone/>
            </a:pPr>
            <a:r>
              <a:rPr lang="en-US" sz="1600" dirty="0">
                <a:solidFill>
                  <a:srgbClr val="5B76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いつでも Google アカウント設定から解除できます。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68680" y="612648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6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困ったら：社内Slack #teamagent まで気軽にどうぞ 🙌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iragino Sans"/>
              </a:rPr>
              <a:t>管理者向け：本番展開の進め方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CCEEF0"/>
                </a:solidFill>
                <a:latin typeface="Hiragino Sans"/>
              </a:rPr>
              <a:t>全営業に配って実運用するまでの 4 ステップ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28090"/>
                </a:solidFill>
                <a:latin typeface="Hiragino Sans"/>
              </a:rPr>
              <a:t>全体の流れ（4ステップ）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8308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000" b="1">
                <a:solidFill>
                  <a:srgbClr val="12343B"/>
                </a:solidFill>
                <a:latin typeface="Hiragino Sans"/>
              </a:rPr>
              <a:t>① サーバを常設する（EC2・RDSと同じVPC）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5B7682"/>
                </a:solidFill>
                <a:latin typeface="Hiragino Sans"/>
              </a:rPr>
              <a:t>　受け口(connect_web)と管理画面を“公開URL”で24時間稼働させる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2343B"/>
                </a:solidFill>
                <a:latin typeface="Hiragino Sans"/>
              </a:rPr>
              <a:t>② 連携リンクを作る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5B7682"/>
                </a:solidFill>
                <a:latin typeface="Hiragino Sans"/>
              </a:rPr>
              <a:t>　make_connect_links で全営業分のリンクを一括生成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2343B"/>
                </a:solidFill>
                <a:latin typeface="Hiragino Sans"/>
              </a:rPr>
              <a:t>③ 営業に配る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5B7682"/>
                </a:solidFill>
                <a:latin typeface="Hiragino Sans"/>
              </a:rPr>
              <a:t>　Slack/メールで本人にリンク＋このガイドを送る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2343B"/>
                </a:solidFill>
                <a:latin typeface="Hiragino Sans"/>
              </a:rPr>
              <a:t>④ 管理画面で見守る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5B7682"/>
                </a:solidFill>
                <a:latin typeface="Hiragino Sans"/>
              </a:rPr>
              <a:t>　連携状況・利用状況・コスト・混雑をいつでも確認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28090"/>
                </a:solidFill>
                <a:latin typeface="Hiragino Sans"/>
              </a:rPr>
              <a:t>STEP 1　サーバを常設する（技術は Claude が伴走）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8308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900" b="1">
                <a:solidFill>
                  <a:srgbClr val="12343B"/>
                </a:solidFill>
                <a:latin typeface="Hiragino Sans"/>
              </a:rPr>
              <a:t>RDSと同じVPCのEC2に置くのがベスト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5B7682"/>
                </a:solidFill>
                <a:latin typeface="Hiragino Sans"/>
              </a:rPr>
              <a:t>　→ トンネル不要・実HTTPS・24時間稼働。ノートPCのスリープ/切断で落ちない。</a:t>
            </a:r>
          </a:p>
          <a:p>
            <a:pPr>
              <a:spcBef>
                <a:spcPts val="1400"/>
              </a:spcBef>
            </a:pPr>
            <a:r>
              <a:rPr sz="1900" b="1">
                <a:solidFill>
                  <a:srgbClr val="12343B"/>
                </a:solidFill>
                <a:latin typeface="Hiragino Sans"/>
              </a:rPr>
              <a:t>事前に用意するもの（管理者）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5B7682"/>
                </a:solidFill>
                <a:latin typeface="Hiragino Sans"/>
              </a:rPr>
              <a:t>・Web型 OAuthクライアント（リダイレクトURIを公開URLで登録）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5B7682"/>
                </a:solidFill>
                <a:latin typeface="Hiragino Sans"/>
              </a:rPr>
              <a:t>・OAUTH_STATE_SECRET（強いランダム値・全プロセスで同一）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5B7682"/>
                </a:solidFill>
                <a:latin typeface="Hiragino Sans"/>
              </a:rPr>
              <a:t>・KMS鍵 / RDS接続 / クライアント・シークレット（再生成推奨）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5B7682"/>
                </a:solidFill>
                <a:latin typeface="Hiragino Sans"/>
              </a:rPr>
              <a:t>※ 具体的なデプロイ手順とコマンドは Claude が用意し、一緒に進めます。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28090"/>
                </a:solidFill>
                <a:latin typeface="Hiragino Sans"/>
              </a:rPr>
              <a:t>STEP 2-3　リンクを作って配る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8308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900" b="1">
                <a:solidFill>
                  <a:srgbClr val="12343B"/>
                </a:solidFill>
                <a:latin typeface="Hiragino Sans"/>
              </a:rPr>
              <a:t>リンク生成（管理者が1回）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5B7682"/>
                </a:solidFill>
                <a:latin typeface="Hiragino Sans"/>
              </a:rPr>
              <a:t>　make_connect_links に営業のメールを渡す → 1人1本のリンクが出力</a:t>
            </a:r>
          </a:p>
          <a:p>
            <a:pPr>
              <a:spcBef>
                <a:spcPts val="1400"/>
              </a:spcBef>
            </a:pPr>
            <a:r>
              <a:rPr sz="1900" b="1">
                <a:solidFill>
                  <a:srgbClr val="12343B"/>
                </a:solidFill>
                <a:latin typeface="Hiragino Sans"/>
              </a:rPr>
              <a:t>配布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5B7682"/>
                </a:solidFill>
                <a:latin typeface="Hiragino Sans"/>
              </a:rPr>
              <a:t>　各リンクを“本人だけ”にSlack DM/メールで送付（このガイドを添えると親切）</a:t>
            </a:r>
          </a:p>
          <a:p>
            <a:pPr>
              <a:spcBef>
                <a:spcPts val="1400"/>
              </a:spcBef>
            </a:pPr>
            <a:r>
              <a:rPr sz="1900" b="1">
                <a:solidFill>
                  <a:srgbClr val="12343B"/>
                </a:solidFill>
                <a:latin typeface="Hiragino Sans"/>
              </a:rPr>
              <a:t>営業の操作（このガイドの前半）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5B7682"/>
                </a:solidFill>
                <a:latin typeface="Hiragino Sans"/>
              </a:rPr>
              <a:t>　届いたリンクを開く → 自分のGoogleでログイン →「許可」だけ。完了。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5B7682"/>
                </a:solidFill>
                <a:latin typeface="Hiragino Sans"/>
              </a:rPr>
              <a:t>⚠️ “正しい人に正しいリンク”を。本人は自分の会社アカウントで許可すること。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28090"/>
                </a:solidFill>
                <a:latin typeface="Hiragino Sans"/>
              </a:rPr>
              <a:t>STEP 4　管理画面で見守る ／ 安心ポイント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8308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900" b="1">
                <a:solidFill>
                  <a:srgbClr val="12343B"/>
                </a:solidFill>
                <a:latin typeface="Hiragino Sans"/>
              </a:rPr>
              <a:t>管理画面でいつでも確認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5B7682"/>
                </a:solidFill>
                <a:latin typeface="Hiragino Sans"/>
              </a:rPr>
              <a:t>　誰が連携済みか・利用状況・コスト・レイテンシ・混雑（同時実行）を一覧</a:t>
            </a:r>
          </a:p>
          <a:p>
            <a:pPr>
              <a:spcBef>
                <a:spcPts val="1400"/>
              </a:spcBef>
            </a:pPr>
            <a:r>
              <a:rPr sz="1900" b="1">
                <a:solidFill>
                  <a:srgbClr val="12343B"/>
                </a:solidFill>
                <a:latin typeface="Hiragino Sans"/>
              </a:rPr>
              <a:t>安心ポイント（営業にも伝える）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5B7682"/>
                </a:solidFill>
                <a:latin typeface="Hiragino Sans"/>
              </a:rPr>
              <a:t>　👀 見るだけ（readonly） ／ 🔒 本人専用（他人は見えない） ／ 🚪 いつでも解除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5B7682"/>
                </a:solidFill>
                <a:latin typeface="Hiragino Sans"/>
              </a:rPr>
              <a:t>　トークンは暗号化して保存。画面にも復号して出しません。</a:t>
            </a:r>
          </a:p>
          <a:p>
            <a:pPr>
              <a:spcBef>
                <a:spcPts val="1600"/>
              </a:spcBef>
            </a:pPr>
            <a:r>
              <a:rPr sz="1400" b="0">
                <a:solidFill>
                  <a:srgbClr val="5B7682"/>
                </a:solidFill>
                <a:latin typeface="Hiragino Sans"/>
              </a:rPr>
              <a:t>次の一手：本番デプロイの手順書を Claude が用意します。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AIエージェント連携ガイド（営業向け）</dc:title>
  <dc:subject>PptxGenJS Presentation</dc:subject>
  <dc:creator>TeamAgent</dc:creator>
  <cp:lastModifiedBy>TeamAgent</cp:lastModifiedBy>
  <cp:revision>1</cp:revision>
  <dcterms:created xsi:type="dcterms:W3CDTF">2026-06-03T10:27:49Z</dcterms:created>
  <dcterms:modified xsi:type="dcterms:W3CDTF">2026-06-03T10:27:49Z</dcterms:modified>
</cp:coreProperties>
</file>