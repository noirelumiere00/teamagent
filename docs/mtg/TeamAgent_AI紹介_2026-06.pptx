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A235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3291840" cy="329184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841248" cy="84124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1573500"/>
            <a:ext cx="437449" cy="4374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231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7D2F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営業の</a:t>
            </a:r>
            <a:pPr indent="0" marL="0">
              <a:buNone/>
            </a:pPr>
            <a:r>
              <a:rPr lang="en-US" sz="2300" b="1" dirty="0">
                <a:solidFill>
                  <a:srgbClr val="22D3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“会社の脳”</a:t>
            </a:r>
            <a:pPr indent="0" marL="0">
              <a:buNone/>
            </a:pPr>
            <a:r>
              <a:rPr lang="en-US" sz="2300" dirty="0">
                <a:solidFill>
                  <a:srgbClr val="C7D2F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になる Slack AI エージェント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1A2350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4348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BE3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横断検索の脳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679192" y="443484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1A2350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79192" y="443484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BE3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提案まで作る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18304" y="443484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1A2350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18304" y="4434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BE3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動画を読む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19672" y="443484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1A2350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9672" y="443484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BE3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雑談もOK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3C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2026.06  AI紹介MTG ／ ベクトル株式会社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6199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9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営業16名規模 ・ 同時利用4名／最大20接続を想定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WHAT IS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一言でいうと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92240" cy="1371600"/>
          </a:xfrm>
          <a:prstGeom prst="roundRect">
            <a:avLst>
              <a:gd name="adj" fmla="val 6000"/>
            </a:avLst>
          </a:prstGeom>
          <a:solidFill>
            <a:srgbClr val="0E1430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830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7D2F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Slackで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@メンションするだけ。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営業メンバーのナレッジを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一つの脳に束ね、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案件相談から雑談まで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答える相棒。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3399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20954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全員の知見を、全員に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357530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14名分の提案書・議事録・Slackを横断して回答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4359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416966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検索だけじゃない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08760" y="453542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提案のたたき台づくり・レビュー・動画分析まで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53199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512978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コマンド不要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08760" y="549554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自然文でOK。雑談は会話、依頼は実行に振り分け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772400" y="1600200"/>
            <a:ext cx="3794760" cy="4480560"/>
          </a:xfrm>
          <a:prstGeom prst="roundRect">
            <a:avLst>
              <a:gd name="adj" fmla="val 2169"/>
            </a:avLst>
          </a:prstGeom>
          <a:solidFill>
            <a:srgbClr val="F7F9FC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89720" y="1965960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185416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0" y="29718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会社の脳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8183880" y="3566160"/>
            <a:ext cx="2971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366760" y="35661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提案書 / 企画書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8183880" y="4169664"/>
            <a:ext cx="2971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366760" y="416966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Slackの商談スレッド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8183880" y="4773168"/>
            <a:ext cx="2971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366760" y="47731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 Drive 資料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8183880" y="5376672"/>
            <a:ext cx="2971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366760" y="53766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議事録・メール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なぜ必要か — 散らばった知見を“会社の脳”へ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389120"/>
          </a:xfrm>
          <a:prstGeom prst="roundRect">
            <a:avLst>
              <a:gd name="adj" fmla="val 1875"/>
            </a:avLst>
          </a:prstGeom>
          <a:solidFill>
            <a:srgbClr val="F7F9FC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いま起きていること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532888"/>
            <a:ext cx="146304" cy="146304"/>
          </a:xfrm>
          <a:prstGeom prst="ellipse">
            <a:avLst/>
          </a:prstGeom>
          <a:solidFill>
            <a:srgbClr val="667089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231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提案ナレッジが個人に分散し、再利用できない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3374136"/>
            <a:ext cx="146304" cy="146304"/>
          </a:xfrm>
          <a:prstGeom prst="ellipse">
            <a:avLst/>
          </a:prstGeom>
          <a:solidFill>
            <a:srgbClr val="667089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2644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過去の“勝ち筋”が埋もれて探せない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4215384"/>
            <a:ext cx="146304" cy="146304"/>
          </a:xfrm>
          <a:prstGeom prst="ellipse">
            <a:avLst/>
          </a:prstGeom>
          <a:solidFill>
            <a:srgbClr val="667089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10565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競合のショート動画分析が毎回手作業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5056632"/>
            <a:ext cx="146304" cy="146304"/>
          </a:xfrm>
          <a:prstGeom prst="ellipse">
            <a:avLst/>
          </a:prstGeom>
          <a:solidFill>
            <a:srgbClr val="667089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9469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新人・異動者の立ち上がりに時間がかかる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53328" y="356616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947" y="3719779"/>
            <a:ext cx="332842" cy="33284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903720" y="1691640"/>
            <a:ext cx="4663440" cy="4389120"/>
          </a:xfrm>
          <a:prstGeom prst="roundRect">
            <a:avLst>
              <a:gd name="adj" fmla="val 1875"/>
            </a:avLst>
          </a:prstGeom>
          <a:solidFill>
            <a:srgbClr val="0E1430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223760" y="1874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があると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23760" y="2468880"/>
            <a:ext cx="512064" cy="512064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655" y="2591775"/>
            <a:ext cx="266273" cy="26627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882128" y="242316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全員の知見を全員が即活用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7223760" y="3310128"/>
            <a:ext cx="512064" cy="512064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655" y="3433023"/>
            <a:ext cx="266273" cy="26627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82128" y="3264408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根拠（出典リンク）付きで回答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7223760" y="4151376"/>
            <a:ext cx="512064" cy="512064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655" y="4274271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82128" y="4105656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KWを入れるだけで動画を分析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7223760" y="4992624"/>
            <a:ext cx="512064" cy="512064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655" y="5115519"/>
            <a:ext cx="266273" cy="26627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82128" y="4946904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自然文だから誰でも使える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全体像 — メンションから回答＋提案まで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871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2011680"/>
            <a:ext cx="768096" cy="768096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959" y="2196023"/>
            <a:ext cx="399410" cy="399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Slackで@メンション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34670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自然文 / コマンド不要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60604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19856" y="1783080"/>
            <a:ext cx="24871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79392" y="2011680"/>
            <a:ext cx="768096" cy="768096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735" y="2196023"/>
            <a:ext cx="399410" cy="3994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11296" y="288036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AIルーターが意図判定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11296" y="334670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雑談 / 検索 / 各Skillへ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60604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9632" y="1783080"/>
            <a:ext cx="24871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59168" y="2011680"/>
            <a:ext cx="768096" cy="768096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511" y="2196023"/>
            <a:ext cx="399410" cy="39941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91072" y="288036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9つのSkillが実行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291072" y="334670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横断検索・提案・動画ほか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2606040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79408" y="1783080"/>
            <a:ext cx="248716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838944" y="2011680"/>
            <a:ext cx="768096" cy="76809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287" y="2196023"/>
            <a:ext cx="399410" cy="39941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70848" y="288036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回答＋その他の提案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9070848" y="3346704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根拠リンク付きで返す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4008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9つのSkill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640080" y="4617720"/>
            <a:ext cx="1316736" cy="45720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731520" y="470916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57" y="4774997"/>
            <a:ext cx="142646" cy="14264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60704" y="461772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横断検索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2157984" y="4617720"/>
            <a:ext cx="1746504" cy="45720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2249424" y="470916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5261" y="4774997"/>
            <a:ext cx="142646" cy="14264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578608" y="4617720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取引先カルテ</a:t>
            </a:r>
            <a:endParaRPr lang="en-US" sz="1150" dirty="0"/>
          </a:p>
        </p:txBody>
      </p:sp>
      <p:sp>
        <p:nvSpPr>
          <p:cNvPr id="36" name="Shape 25"/>
          <p:cNvSpPr/>
          <p:nvPr/>
        </p:nvSpPr>
        <p:spPr>
          <a:xfrm>
            <a:off x="4105656" y="4617720"/>
            <a:ext cx="1746504" cy="45720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5B53C6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4197096" y="4709160"/>
            <a:ext cx="274320" cy="27432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2933" y="4774997"/>
            <a:ext cx="142646" cy="142646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526280" y="4617720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提案ドラフト</a:t>
            </a:r>
            <a:endParaRPr lang="en-US" sz="1150" dirty="0"/>
          </a:p>
        </p:txBody>
      </p:sp>
      <p:sp>
        <p:nvSpPr>
          <p:cNvPr id="40" name="Shape 28"/>
          <p:cNvSpPr/>
          <p:nvPr/>
        </p:nvSpPr>
        <p:spPr>
          <a:xfrm>
            <a:off x="6053328" y="4617720"/>
            <a:ext cx="1746504" cy="45720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5B53C6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6144768" y="4709160"/>
            <a:ext cx="274320" cy="27432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605" y="4774997"/>
            <a:ext cx="142646" cy="142646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473952" y="4617720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提案レビュー</a:t>
            </a:r>
            <a:endParaRPr lang="en-US" sz="1150" dirty="0"/>
          </a:p>
        </p:txBody>
      </p:sp>
      <p:sp>
        <p:nvSpPr>
          <p:cNvPr id="44" name="Shape 31"/>
          <p:cNvSpPr/>
          <p:nvPr/>
        </p:nvSpPr>
        <p:spPr>
          <a:xfrm>
            <a:off x="8001000" y="4617720"/>
            <a:ext cx="1531620" cy="45720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5B53C6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8092440" y="4709160"/>
            <a:ext cx="274320" cy="27432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8277" y="4774997"/>
            <a:ext cx="142646" cy="142646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8421624" y="4617720"/>
            <a:ext cx="107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営業ログ化</a:t>
            </a:r>
            <a:endParaRPr lang="en-US" sz="1150" dirty="0"/>
          </a:p>
        </p:txBody>
      </p:sp>
      <p:sp>
        <p:nvSpPr>
          <p:cNvPr id="48" name="Shape 34"/>
          <p:cNvSpPr/>
          <p:nvPr/>
        </p:nvSpPr>
        <p:spPr>
          <a:xfrm>
            <a:off x="640080" y="5221224"/>
            <a:ext cx="2176272" cy="45720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731520" y="5312664"/>
            <a:ext cx="274320" cy="2743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7357" y="5378501"/>
            <a:ext cx="142646" cy="142646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1060704" y="5221224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VSEO動画分析</a:t>
            </a:r>
            <a:endParaRPr lang="en-US" sz="1150" dirty="0"/>
          </a:p>
        </p:txBody>
      </p:sp>
      <p:sp>
        <p:nvSpPr>
          <p:cNvPr id="52" name="Shape 37"/>
          <p:cNvSpPr/>
          <p:nvPr/>
        </p:nvSpPr>
        <p:spPr>
          <a:xfrm>
            <a:off x="3017520" y="5221224"/>
            <a:ext cx="1316736" cy="45720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3" name="Shape 38"/>
          <p:cNvSpPr/>
          <p:nvPr/>
        </p:nvSpPr>
        <p:spPr>
          <a:xfrm>
            <a:off x="3108960" y="5312664"/>
            <a:ext cx="274320" cy="2743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74797" y="5378501"/>
            <a:ext cx="142646" cy="142646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3438144" y="522122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動画分析</a:t>
            </a:r>
            <a:endParaRPr lang="en-US" sz="1150" dirty="0"/>
          </a:p>
        </p:txBody>
      </p:sp>
      <p:sp>
        <p:nvSpPr>
          <p:cNvPr id="56" name="Shape 40"/>
          <p:cNvSpPr/>
          <p:nvPr/>
        </p:nvSpPr>
        <p:spPr>
          <a:xfrm>
            <a:off x="4535424" y="5221224"/>
            <a:ext cx="2820924" cy="45720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Shape 41"/>
          <p:cNvSpPr/>
          <p:nvPr/>
        </p:nvSpPr>
        <p:spPr>
          <a:xfrm>
            <a:off x="4626864" y="531266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92701" y="5378501"/>
            <a:ext cx="142646" cy="142646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4956048" y="5221224"/>
            <a:ext cx="23637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動画チェック（制作中）</a:t>
            </a:r>
            <a:endParaRPr lang="en-US" sz="1150" dirty="0"/>
          </a:p>
        </p:txBody>
      </p:sp>
      <p:sp>
        <p:nvSpPr>
          <p:cNvPr id="60" name="Shape 43"/>
          <p:cNvSpPr/>
          <p:nvPr/>
        </p:nvSpPr>
        <p:spPr>
          <a:xfrm>
            <a:off x="7557516" y="5221224"/>
            <a:ext cx="2176272" cy="45720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1" name="Shape 44"/>
          <p:cNvSpPr/>
          <p:nvPr/>
        </p:nvSpPr>
        <p:spPr>
          <a:xfrm>
            <a:off x="7648956" y="5312664"/>
            <a:ext cx="274320" cy="2743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4793" y="5378501"/>
            <a:ext cx="142646" cy="142646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7978140" y="5221224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TikTok検索</a:t>
            </a:r>
            <a:endParaRPr lang="en-US" sz="1150" dirty="0"/>
          </a:p>
        </p:txBody>
      </p:sp>
      <p:sp>
        <p:nvSpPr>
          <p:cNvPr id="64" name="Text 4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65" name="Text 4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745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2D3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会社の脳 — 横断検索エージェント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67512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営業メンバーの知見を束ね、根拠付きで“教える”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CORE ①  COMPANY BRAIN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横断検索 — 「響いた訴求は？」に根拠付きで答える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1A2350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38528"/>
            <a:ext cx="548640" cy="54864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207020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9164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@TeamAgent  A社の提案で響いた訴求は？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10786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9169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ベクトル検索（pgvector）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17320" y="32644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意味で近い資料を全社から top-30 抽出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88510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6941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Cohere Rerank で精度UP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17320" y="40416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本当に関連する5件へ絞り込み（東京リージョン）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66234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4714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引用付き・反ハルシ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417320" y="48188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根拠が弱ければ“記載なし”。出典リンクで確認可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5303520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439583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2486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RLSで権限分離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417320" y="55961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本人が見てよい資料だけを対象（情報漏洩を防ぐ）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720840" y="1691640"/>
            <a:ext cx="4828032" cy="4389120"/>
          </a:xfrm>
          <a:prstGeom prst="roundRect">
            <a:avLst>
              <a:gd name="adj" fmla="val 1875"/>
            </a:avLst>
          </a:prstGeom>
          <a:solidFill>
            <a:srgbClr val="F7F9FC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6949440" y="1874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リランク導入の効果（社内goldセット）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949440" y="22860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20% </a:t>
            </a:r>
            <a:pPr indent="0" marL="0">
              <a:buNone/>
            </a:pPr>
            <a:r>
              <a:rPr lang="en-US" sz="26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</a:t>
            </a:r>
            <a:pPr indent="0" marL="0">
              <a:buNone/>
            </a:pPr>
            <a:r>
              <a:rPr lang="en-US" sz="5400" b="1" dirty="0">
                <a:solidFill>
                  <a:srgbClr val="0E74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64%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6949440" y="3246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一発正答率（top-1）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949440" y="3794760"/>
            <a:ext cx="4370832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949440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B53C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88</a:t>
            </a:r>
            <a:pPr indent="0" marL="0">
              <a:buNone/>
            </a:pPr>
            <a:r>
              <a:rPr lang="en-US" sz="2800" b="1" dirty="0">
                <a:solidFill>
                  <a:srgbClr val="5B53C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</a:t>
            </a:r>
            <a:endParaRPr lang="en-US" sz="4600" dirty="0"/>
          </a:p>
        </p:txBody>
      </p:sp>
      <p:sp>
        <p:nvSpPr>
          <p:cNvPr id="30" name="Text 23"/>
          <p:cNvSpPr/>
          <p:nvPr/>
        </p:nvSpPr>
        <p:spPr>
          <a:xfrm>
            <a:off x="9098280" y="4023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実データ9,400件での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top-5 ヒット率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949440" y="50292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根拠なき断定をしない設計（grounded）。ハルシネーション0を実データで確認。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CORE ①  CONVERSATION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“検索する道具”から“提案する相棒”へ（今回更新）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雑談・挨拶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1720" y="169164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F7F9FC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16916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こんにちは！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169164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350"/>
          </a:solidFill>
          <a:ln/>
        </p:spPr>
      </p:sp>
      <p:sp>
        <p:nvSpPr>
          <p:cNvPr id="9" name="Text 7"/>
          <p:cNvSpPr/>
          <p:nvPr/>
        </p:nvSpPr>
        <p:spPr>
          <a:xfrm>
            <a:off x="5971032" y="16916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こんにちは。案件のことなど、何でも話しかけてください。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40112" y="1691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検索せず、会話で即答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1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依頼（検索）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31720" y="283464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F7F9FC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28346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飲食店のPR事例を教えて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06440" y="283464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350"/>
          </a:solidFill>
          <a:ln/>
        </p:spPr>
      </p:sp>
      <p:sp>
        <p:nvSpPr>
          <p:cNvPr id="16" name="Text 14"/>
          <p:cNvSpPr/>
          <p:nvPr/>
        </p:nvSpPr>
        <p:spPr>
          <a:xfrm>
            <a:off x="5971032" y="28346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🔎 受け付けました。『飲食店のPR事例』について検索します（資料を探索中…）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40112" y="2834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何を調べるか“話題を復唱”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5B53C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回答のあと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31720" y="3977640"/>
            <a:ext cx="3291840" cy="777240"/>
          </a:xfrm>
          <a:prstGeom prst="roundRect">
            <a:avLst>
              <a:gd name="adj" fmla="val 14118"/>
            </a:avLst>
          </a:prstGeom>
          <a:solidFill>
            <a:srgbClr val="F7F9FC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39776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（検索結果）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06440" y="397764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350"/>
          </a:solidFill>
          <a:ln/>
        </p:spPr>
      </p:sp>
      <p:sp>
        <p:nvSpPr>
          <p:cNvPr id="23" name="Text 21"/>
          <p:cNvSpPr/>
          <p:nvPr/>
        </p:nvSpPr>
        <p:spPr>
          <a:xfrm>
            <a:off x="5971032" y="39776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💡 その他の提案：カルテ作成／提案のたたき台／競合動画の分析…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40112" y="3977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53C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次の一手まで提案する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F7F9FC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54406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5561381"/>
            <a:ext cx="261518" cy="26151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600200" y="52578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ポイント：</a:t>
            </a:r>
            <a:pPr indent="0" marL="0">
              <a:buNone/>
            </a:pPr>
            <a:r>
              <a:rPr lang="en-US" sz="130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「Hello」と打つと検索受付が返る不自然さを解消。雑談は会話で、依頼は“話題を復唱＋提案”で返すよう改善しました。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3C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CORE ①  PRODUCTIVITY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資料化・提案支援 — 営業の手を止めない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30552"/>
            <a:ext cx="841248" cy="841248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20" y="2332452"/>
            <a:ext cx="437449" cy="437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提案ドラフト自動生成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11680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過去提案を参照し、たたき台を自動で作成。ゼロから書かない。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130552"/>
            <a:ext cx="841248" cy="841248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292" y="2332452"/>
            <a:ext cx="437449" cy="4374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6952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提案レビュー・改善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16952" y="2651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既存提案を診断し、刺さる訴求・抜けを指摘して磨き込む。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79392"/>
            <a:ext cx="841248" cy="8412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20" y="4481292"/>
            <a:ext cx="437449" cy="4374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取引先カルテ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11680" y="4800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履歴・温度感・次アクションを時系列で1枚に束ねる。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9319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79392"/>
            <a:ext cx="841248" cy="84124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292" y="4481292"/>
            <a:ext cx="437449" cy="4374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6952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営業ログ化（CRM）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16952" y="4800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Slackの商談会話を、フェーズ/次ステップ/BANTに構造化。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745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B71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動画を読むAI — VSEO / 動画分析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67512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ショート動画の“なぜ伸びるか”を構造で可視化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FLAGSHIP  VSEO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VSEO動画分析 — KWひとつで“勝ち筋”を構造化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0" cy="868680"/>
          </a:xfrm>
          <a:prstGeom prst="roundRect">
            <a:avLst>
              <a:gd name="adj" fmla="val 9474"/>
            </a:avLst>
          </a:prstGeom>
          <a:solidFill>
            <a:srgbClr val="1A2350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495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459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@TeamAgent  VSEO分析 新宿 ランチ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14400" y="3337560"/>
            <a:ext cx="0" cy="301752"/>
          </a:xfrm>
          <a:prstGeom prst="line">
            <a:avLst/>
          </a:prstGeom>
          <a:noFill/>
          <a:ln w="25400">
            <a:solidFill>
              <a:srgbClr val="F1B6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17320" y="27523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TikTok上位動画を収集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417320" y="3090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検索KWの入賞動画を自動取得（目標+4本を確保）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639312"/>
            <a:ext cx="548640" cy="5486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4400" y="4187952"/>
            <a:ext cx="0" cy="301752"/>
          </a:xfrm>
          <a:prstGeom prst="line">
            <a:avLst/>
          </a:prstGeom>
          <a:noFill/>
          <a:ln w="25400">
            <a:solidFill>
              <a:srgbClr val="F1B6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17320" y="36027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1本ずつ時刻付きで分析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417320" y="39410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Geminiが構成・テロップ・フックを秒単位で読む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4489704"/>
            <a:ext cx="548640" cy="5486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489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14400" y="5038344"/>
            <a:ext cx="0" cy="301752"/>
          </a:xfrm>
          <a:prstGeom prst="line">
            <a:avLst/>
          </a:prstGeom>
          <a:noFill/>
          <a:ln w="25400">
            <a:solidFill>
              <a:srgbClr val="F1B6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17320" y="44531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横断で勝ち筋を抽出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417320" y="47914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共通パターンを統計＋戦略シンセシス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5340096"/>
            <a:ext cx="548640" cy="5486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3400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17320" y="5303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HTMLレポートで納品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417320" y="56418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Premiere風タイムライン／実動画再生つき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355080" y="1645920"/>
            <a:ext cx="5193792" cy="4434840"/>
          </a:xfrm>
          <a:prstGeom prst="roundRect">
            <a:avLst>
              <a:gd name="adj" fmla="val 1856"/>
            </a:avLst>
          </a:prstGeom>
          <a:solidFill>
            <a:srgbClr val="F7F9FC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675120" y="1965960"/>
            <a:ext cx="731520" cy="7315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685" y="2141525"/>
            <a:ext cx="380390" cy="38039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589520" y="2011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提案の“説得力”が変わる</a:t>
            </a:r>
            <a:endParaRPr lang="en-US" sz="18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999232"/>
            <a:ext cx="292608" cy="29260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132320" y="29260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感覚でなく“なぜ伸びるか”を構造で説明できる</a:t>
            </a:r>
            <a:endParaRPr lang="en-US" sz="13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602736"/>
            <a:ext cx="292608" cy="2926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132320" y="35295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競合・市場の最新の勝ち筋をその場で提示</a:t>
            </a:r>
            <a:endParaRPr lang="en-US" sz="13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206240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32320" y="41330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クライアント提案・社内勉強会にそのまま使える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6720840" y="4892040"/>
            <a:ext cx="4572000" cy="960120"/>
          </a:xfrm>
          <a:prstGeom prst="roundRect">
            <a:avLst>
              <a:gd name="adj" fmla="val 9524"/>
            </a:avLst>
          </a:prstGeom>
          <a:solidFill>
            <a:srgbClr val="FFF1F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949440" y="512064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141" y="5241341"/>
            <a:ext cx="261518" cy="26151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589520" y="489204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失敗ゼロ化 </a:t>
            </a:r>
            <a:pPr indent="0" marL="0">
              <a:buNone/>
            </a:pPr>
            <a:r>
              <a:rPr lang="en-US" sz="11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DL/解析の失敗を自動リカバリ。10本を確実に揃える堅牢設計（負荷テスト済）。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4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VIDEO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単体の動画分析 ＆ TikTok検索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868680" cy="86868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323" y="23116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94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動画分析（単体）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057400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URLを貼るだけ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4107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752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YouTube / Shorts / TikTok / Instagram に対応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9776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44752" y="39044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構成・フック・テロップ・訴求を要約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54456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44752" y="44714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「この動画の良い点は？」にその場で回答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355080" y="1783080"/>
            <a:ext cx="5193792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720840" y="2103120"/>
            <a:ext cx="868680" cy="868680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323" y="2311603"/>
            <a:ext cx="451714" cy="4517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7240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TikTok検索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777240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「TikTokで◯◯検索」「#タグ で調べて」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41071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59752" y="3337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上位動画のデータ（再生・保存・構成）を収集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97764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159752" y="39044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Geminiが横断で傾向を分析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4544568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159752" y="44714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市場リサーチ・ネタ探しを数十秒で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制作中：動画チェックAI — 一次FBを自動化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69680" y="603504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69494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4622" y="782726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0" y="60350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660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開発中・近日リリース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1A2350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1993392"/>
            <a:ext cx="566928" cy="566928"/>
          </a:xfrm>
          <a:prstGeom prst="ellipse">
            <a:avLst/>
          </a:prstGeom>
          <a:solidFill>
            <a:srgbClr val="0E143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63" y="2129455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7373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@TeamAgent  動画チェック E01-01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0080" y="303580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編集者の納品動画を、オリエン（指示書）と自動照合して一次フィードバック。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365760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3780495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362102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必須要素の有無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53312" y="39410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指定テロップ・ロゴ・訴求が入っているか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4261104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4383999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3312" y="422452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NGワード検出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53312" y="45445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言ってはいけない表現が無いか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4864608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4987503"/>
            <a:ext cx="266273" cy="26627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53312" y="48280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テロップ／尺の確認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353312" y="514807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可読性・指定の長さに収まっているか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" y="5468112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75" y="5591007"/>
            <a:ext cx="266273" cy="26627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53312" y="54315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Phase2：自動監視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1353312" y="575157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シート更新を検知して自動でチェック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720840" y="1737360"/>
            <a:ext cx="4828032" cy="4343400"/>
          </a:xfrm>
          <a:prstGeom prst="roundRect">
            <a:avLst>
              <a:gd name="adj" fmla="val 1895"/>
            </a:avLst>
          </a:prstGeom>
          <a:solidFill>
            <a:srgbClr val="F7F9FC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040880" y="205740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7418" y="2243938"/>
            <a:ext cx="404165" cy="40416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001000" y="2148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なにが嬉しい？</a:t>
            </a:r>
            <a:endParaRPr lang="en-US" sz="1800" dirty="0"/>
          </a:p>
        </p:txBody>
      </p:sp>
      <p:sp>
        <p:nvSpPr>
          <p:cNvPr id="33" name="Text 24"/>
          <p:cNvSpPr/>
          <p:nvPr/>
        </p:nvSpPr>
        <p:spPr>
          <a:xfrm>
            <a:off x="7040880" y="3063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2660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チェック工数を圧縮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7040880" y="34107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目視の一次確認をAIが下ごしらえ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7040880" y="39959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2660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ヒューマンエラー削減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7040880" y="4343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見落とし・確認漏れを機械的に防ぐ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7040880" y="49286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2660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品質を均一に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7040880" y="52760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担当者によらず同じ基準で確認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HOW TO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使い方はかんたん — @メンション＋自然文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1890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938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ナレッジ検索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29514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@TeamAgent コスメの予算50万、似た実績ある？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057400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346" y="21890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92938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取引先カルテ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05472" y="229514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@TeamAgent ◯◯社のカルテ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099816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374136"/>
            <a:ext cx="548640" cy="54864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3505810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246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提案づくり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36118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@TeamAgent ◯◯向けの提案のたたき台を作って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45352" y="3099816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3374136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46" y="3505810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3246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VSEO動画分析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05472" y="36118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@TeamAgent VSEO分析 渋谷 カフェ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4416552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4690872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4" y="482254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5628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動画を分析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00200" y="49286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@TeamAgent （動画URLを貼る）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45352" y="4416552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19672" y="4690872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346" y="48225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05472" y="45628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雑談・相談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205472" y="49286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@TeamAgent 最近の案件、行き詰まってて…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迷ったら、まず話しかけてOK。曖昧な質問も検索で拾います。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 &amp;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裏側の安心 — 守りと品質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1890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93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秘密情報はコードに出さない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29514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鍵・トークンは Secrets Manager のみで管理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0574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346" y="21890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9293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権限分離（RLS）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05472" y="229514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本人が見てよい資料だけを検索対象に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099816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374136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3505810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246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本人データは本人だけ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36118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個人OAuth。他人のGoogleは参照しない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45352" y="3099816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3374136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46" y="3505810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3246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削除しない設計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05472" y="36118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シートは単一セル更新・追記のみ（事故防止）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4416552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4690872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4" y="482254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5628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反ハルシネーション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00200" y="49286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根拠なき断定をしない。出典リンクで確認可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45352" y="4416552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19672" y="4690872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346" y="48225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05472" y="45628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自動テスト &amp; 総量規制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205472" y="49286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831件の自動テスト／同時4名で安定運用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技術スタック（ざっくり1枚）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3288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5044" y="2121408"/>
            <a:ext cx="822960" cy="82296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554" y="2318918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35808"/>
            <a:ext cx="2258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テキストAI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493008"/>
            <a:ext cx="21671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Claude（AWS Bedrock）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検索・要約・提案・会話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47288" y="1828800"/>
            <a:ext cx="253288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2252" y="2121408"/>
            <a:ext cx="822960" cy="82296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762" y="2318918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3035808"/>
            <a:ext cx="2258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動画AI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30168" y="3493008"/>
            <a:ext cx="21671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Gemini（GCP Vertex AI）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マルチモーダル動画分析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54496" y="1828800"/>
            <a:ext cx="253288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9460" y="2121408"/>
            <a:ext cx="822960" cy="82296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970" y="2318918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3035808"/>
            <a:ext cx="2258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検索基盤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37376" y="3493008"/>
            <a:ext cx="21671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pgvector ＋ Cohere Rerank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意味検索＋精度リランク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61704" y="1828800"/>
            <a:ext cx="2532888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35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16668" y="2121408"/>
            <a:ext cx="822960" cy="822960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178" y="2318918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3035808"/>
            <a:ext cx="2258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入口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44584" y="3493008"/>
            <a:ext cx="216712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Slack（Socket Mode）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@メンションで起動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6177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0E1430"/>
          </a:solidFill>
          <a:ln/>
        </p:spPr>
      </p:sp>
      <p:sp>
        <p:nvSpPr>
          <p:cNvPr id="25" name="Shape 19"/>
          <p:cNvSpPr/>
          <p:nvPr/>
        </p:nvSpPr>
        <p:spPr>
          <a:xfrm>
            <a:off x="932688" y="4828032"/>
            <a:ext cx="548640" cy="548640"/>
          </a:xfrm>
          <a:prstGeom prst="ellipse">
            <a:avLst/>
          </a:prstGeom>
          <a:solidFill>
            <a:srgbClr val="1A235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362" y="495970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61772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設計思想： </a:t>
            </a:r>
            <a:pPr indent="0" marL="0">
              <a:buNone/>
            </a:pPr>
            <a:r>
              <a:rPr lang="en-US" sz="1250" dirty="0">
                <a:solidFill>
                  <a:srgbClr val="DBE3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3層分離（差し替え可能）／プロンプトはファイル管理／全I/Oを型で検証。テスト容易・拡張容易な“育てられる”基盤。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3C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これから — “相棒”を全社の脳へ育てる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20240"/>
            <a:ext cx="640080" cy="64008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75688"/>
            <a:ext cx="329184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78408" y="2560320"/>
            <a:ext cx="0" cy="384048"/>
          </a:xfrm>
          <a:prstGeom prst="line">
            <a:avLst/>
          </a:prstGeom>
          <a:noFill/>
          <a:ln w="25400">
            <a:solidFill>
              <a:srgbClr val="CBD0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00200" y="19019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動画チェックAIの本番化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3225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編集の一次FBを自動化（近日）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" y="2944368"/>
            <a:ext cx="640080" cy="64008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099816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78408" y="3584448"/>
            <a:ext cx="0" cy="384048"/>
          </a:xfrm>
          <a:prstGeom prst="line">
            <a:avLst/>
          </a:prstGeom>
          <a:noFill/>
          <a:ln w="25400">
            <a:solidFill>
              <a:srgbClr val="CBD0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00200" y="2926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自分のGoogleを繋ぐ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00200" y="33467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本人のカレンダー・連絡先まで活用（per-user連携）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58368" y="3968496"/>
            <a:ext cx="640080" cy="64008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123944"/>
            <a:ext cx="329184" cy="3291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78408" y="4608576"/>
            <a:ext cx="0" cy="384048"/>
          </a:xfrm>
          <a:prstGeom prst="line">
            <a:avLst/>
          </a:prstGeom>
          <a:noFill/>
          <a:ln w="25400">
            <a:solidFill>
              <a:srgbClr val="CBD0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600200" y="395020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全社ナレッジ投入の拡大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00200" y="43708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14名分→全部門へ。脳を厚くする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58368" y="4992624"/>
            <a:ext cx="640080" cy="640080"/>
          </a:xfrm>
          <a:prstGeom prst="ellipse">
            <a:avLst/>
          </a:prstGeom>
          <a:solidFill>
            <a:srgbClr val="5B53C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14807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97433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利用の可視化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600200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ダッシュボードで効果と利用状況を見える化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ベクトル社・社内AIエージェント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1A235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280160"/>
            <a:ext cx="3840480" cy="384048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6038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146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C7D2F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“検索する道具” から、</a:t>
            </a:r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22D3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“提案する相棒” へ。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E3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明日から、Slackで @TeamAgent と話しかけてください。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9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TeamAgent ／ ベクトル株式会社 ・ 2026.06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TeamAgent AI紹介MTG</dc:title>
  <dc:subject>PptxGenJS Presentation</dc:subject>
  <dc:creator>TeamAgent</dc:creator>
  <cp:lastModifiedBy>TeamAgent</cp:lastModifiedBy>
  <cp:revision>1</cp:revision>
  <dcterms:created xsi:type="dcterms:W3CDTF">2026-06-05T02:00:15Z</dcterms:created>
  <dcterms:modified xsi:type="dcterms:W3CDTF">2026-06-05T02:00:15Z</dcterms:modified>
</cp:coreProperties>
</file>